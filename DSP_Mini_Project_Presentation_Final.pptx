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2313F"/>
                </a:solidFill>
                <a:latin typeface="Calibri"/>
              </a:rPr>
              <a:t>Runtime (ms) vs N, log scale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 DFT</c:v>
                </c:pt>
              </c:strCache>
            </c:strRef>
          </c:tx>
          <c:spPr>
            <a:solidFill>
              <a:srgbClr val="1F3A5F"/>
            </a:solidFill>
            <a:ln w="2540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64</c:v>
                  </c:pt>
                  <c:pt idx="1">
                    <c:v>128</c:v>
                  </c:pt>
                  <c:pt idx="2">
                    <c:v>256</c:v>
                  </c:pt>
                  <c:pt idx="3">
                    <c:v>512</c:v>
                  </c:pt>
                  <c:pt idx="4">
                    <c:v>1024</c:v>
                  </c:pt>
                  <c:pt idx="5">
                    <c:v>2048</c:v>
                  </c:pt>
                  <c:pt idx="6">
                    <c:v>4096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0.13342</c:v>
                </c:pt>
                <c:pt idx="1">
                  <c:v>0.48776</c:v>
                </c:pt>
                <c:pt idx="2">
                  <c:v>2.2307</c:v>
                </c:pt>
                <c:pt idx="3">
                  <c:v>5.8507</c:v>
                </c:pt>
                <c:pt idx="4">
                  <c:v>16.673</c:v>
                </c:pt>
                <c:pt idx="5">
                  <c:v>48.481</c:v>
                </c:pt>
                <c:pt idx="6">
                  <c:v>153.6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Own FFT</c:v>
                </c:pt>
              </c:strCache>
            </c:strRef>
          </c:tx>
          <c:spPr>
            <a:solidFill>
              <a:srgbClr val="2A9D8F"/>
            </a:solidFill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64</c:v>
                  </c:pt>
                  <c:pt idx="1">
                    <c:v>128</c:v>
                  </c:pt>
                  <c:pt idx="2">
                    <c:v>256</c:v>
                  </c:pt>
                  <c:pt idx="3">
                    <c:v>512</c:v>
                  </c:pt>
                  <c:pt idx="4">
                    <c:v>1024</c:v>
                  </c:pt>
                  <c:pt idx="5">
                    <c:v>2048</c:v>
                  </c:pt>
                  <c:pt idx="6">
                    <c:v>4096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0.1121</c:v>
                </c:pt>
                <c:pt idx="1">
                  <c:v>0.23559</c:v>
                </c:pt>
                <c:pt idx="2">
                  <c:v>0.46378</c:v>
                </c:pt>
                <c:pt idx="3">
                  <c:v>0.98172</c:v>
                </c:pt>
                <c:pt idx="4">
                  <c:v>2.0607</c:v>
                </c:pt>
                <c:pt idx="5">
                  <c:v>4.2867</c:v>
                </c:pt>
                <c:pt idx="6">
                  <c:v>7.9877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Built-in fft</c:v>
                </c:pt>
              </c:strCache>
            </c:strRef>
          </c:tx>
          <c:spPr>
            <a:solidFill>
              <a:srgbClr val="E9A23B"/>
            </a:solidFill>
            <a:ln w="25400" cap="flat">
              <a:solidFill>
                <a:srgbClr val="E9A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A23B"/>
              </a:solidFill>
              <a:ln w="9525" cap="flat">
                <a:solidFill>
                  <a:srgbClr val="E9A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64</c:v>
                  </c:pt>
                  <c:pt idx="1">
                    <c:v>128</c:v>
                  </c:pt>
                  <c:pt idx="2">
                    <c:v>256</c:v>
                  </c:pt>
                  <c:pt idx="3">
                    <c:v>512</c:v>
                  </c:pt>
                  <c:pt idx="4">
                    <c:v>1024</c:v>
                  </c:pt>
                  <c:pt idx="5">
                    <c:v>2048</c:v>
                  </c:pt>
                  <c:pt idx="6">
                    <c:v>4096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0.00029343</c:v>
                </c:pt>
                <c:pt idx="1">
                  <c:v>0.00041031</c:v>
                </c:pt>
                <c:pt idx="2">
                  <c:v>0.00070402</c:v>
                </c:pt>
                <c:pt idx="3">
                  <c:v>0.0011412</c:v>
                </c:pt>
                <c:pt idx="4">
                  <c:v>0.0020034</c:v>
                </c:pt>
                <c:pt idx="5">
                  <c:v>0.0036085</c:v>
                </c:pt>
                <c:pt idx="6">
                  <c:v>0.0076843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"/>
          <c:min val="0.0001"/>
        </c:scaling>
        <c:delete val="0"/>
        <c:axPos val="l"/>
        <c:majorGridlines>
          <c:spPr>
            <a:ln w="6350" cap="flat">
              <a:solidFill>
                <a:srgbClr val="E1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2313F"/>
                </a:solidFill>
                <a:latin typeface="Calibri"/>
              </a:rPr>
              <a:t>Operations per sample at RMSE about 0.094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Ops per sample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FIR (order 30)</c:v>
                  </c:pt>
                  <c:pt idx="1">
                    <c:v>IIR zero-phase (order 4)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1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one reproducible benchmark of the core DSP algorithms.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 are usually compared by theory only. We measure them under one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random seed rng(1) makes every table reproducible. Paste the workflow diagram from the report if you prefer.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fig1_runtime.png and fig2_ops.png here if you want your own figures. Built-in fft is faster because it is compiled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fig3_resolution.png and fig4_convolution.png from the results folder if asked for the plots.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handel audio gives the same ordering: FIR 0.142, causal IIR 0.341, zero-phase IIR 0.129. Figures 5 and 6 show the response and the filtered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filters plateau near RMSE 0.094, the in-band noise floor. Figure 7 shows the full sweep.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own implementations are exact; the built-ins are faster because they are compiled and optimised.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Recommendations: FFT for long transforms, FIR for linear phase, IIR when computation is limited.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GitHub link in the last line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DSP Benchmark: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DFT, FFT, FIR and IIR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Signal Processing Mini Project  |  MATLAB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F5F7FA"/>
                </a:solidFill>
              </a:rPr>
              <a:t>Guide: Dr. Hrishikesh B. Vanjari</a:t>
            </a:r>
          </a:p>
          <a:p>
            <a:r>
              <a:rPr sz="1200">
                <a:solidFill>
                  <a:srgbClr val="F5F7FA"/>
                </a:solidFill>
              </a:rPr>
              <a:t>Submitted by: Raghav Bholeshwar Palange  |  PRN: 1022512013</a:t>
            </a:r>
          </a:p>
          <a:p>
            <a:r>
              <a:rPr sz="1200">
                <a:solidFill>
                  <a:srgbClr val="F5F7FA"/>
                </a:solidFill>
              </a:rPr>
              <a:t>TY B.Tech ECE (AI/ML), Division B, Semester I</a:t>
            </a:r>
          </a:p>
          <a:p>
            <a:r>
              <a:rPr sz="1200">
                <a:solidFill>
                  <a:srgbClr val="F5F7FA"/>
                </a:solidFill>
              </a:rPr>
              <a:t>School of Engineering and Technology, DES Pune University, Pune  |  15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Mini Project  |  Comparative DSP Benchmark: DFT, FFT, FIR and IIR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need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600200"/>
            <a:ext cx="3611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DFT, FFT, convolution, FIR and IIR are core DSP blocks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compared by theory alone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test of accuracy and cost on common signals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need numbers to choose an algorithm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097280"/>
            <a:ext cx="64008" cy="338328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600200"/>
            <a:ext cx="3703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algorithms in MATLAB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synthetic and real signals, one protocol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runtime, RMSE, resolution, operations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MATLAB built-ins (existing method)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reusable framework and tables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Mini Project  |  Comparative DSP Benchmark: DFT, FFT, FIR and IIR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554480" cy="19202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Signals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tones + noise; real handel audio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21408" y="1280160"/>
            <a:ext cx="1554480" cy="192024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12848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Algorithms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212848" y="18288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DFT, own FFT, convolution, FIR, IIR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785616" y="1280160"/>
            <a:ext cx="1554480" cy="19202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77056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Metrics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877056" y="18288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RMSE, operations, resolution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49824" y="1280160"/>
            <a:ext cx="1554480" cy="192024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41264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Outputs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541264" y="18288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 (CSV), 7 figures (PNG)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114032" y="1280160"/>
            <a:ext cx="1554480" cy="19202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205472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Analysis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205472" y="18288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theory and built-ins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MATLAB + Signal Processing Toolbox (fft, conv, fir1, butter, filter, filtfilt, timeit)   |   Reference: MATLAB built-in functions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vs FFT: same answer, far less 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Mini Project  |  Comparative DSP Benchmark: DFT, FFT, FIR and IIR</a:t>
            </a:r>
            <a:endParaRPr lang="en-US" sz="900" dirty="0"/>
          </a:p>
        </p:txBody>
      </p:sp>
      <p:pic>
        <p:nvPicPr>
          <p:cNvPr id="5" name="Picture 4" descr="dft_fft_combin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960120"/>
            <a:ext cx="5349240" cy="3794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1051560"/>
            <a:ext cx="2743200" cy="1005840"/>
          </a:xfrm>
          <a:prstGeom prst="rect">
            <a:avLst/>
          </a:prstGeom>
          <a:solidFill>
            <a:srgbClr val="F8F9FB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4184" y="1124712"/>
            <a:ext cx="24871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63F5C"/>
                </a:solidFill>
              </a:defRPr>
            </a:pPr>
            <a:r>
              <a:t>19.2× faster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4184" y="1490472"/>
            <a:ext cx="2468880" cy="52120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300">
                <a:solidFill>
                  <a:srgbClr val="37414B"/>
                </a:solidFill>
              </a:defRPr>
            </a:pPr>
            <a:r>
              <a:t>Own radix-2 FFT vs naive DFT at N = 4096.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2267712"/>
            <a:ext cx="2743200" cy="1005840"/>
          </a:xfrm>
          <a:prstGeom prst="rect">
            <a:avLst/>
          </a:prstGeom>
          <a:solidFill>
            <a:srgbClr val="F8F9FB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44184" y="2340864"/>
            <a:ext cx="24871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63F5C"/>
                </a:solidFill>
              </a:defRPr>
            </a:pPr>
            <a:r>
              <a:t>Near machine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4184" y="2706624"/>
            <a:ext cx="2468880" cy="52120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300">
                <a:solidFill>
                  <a:srgbClr val="37414B"/>
                </a:solidFill>
              </a:defRPr>
            </a:pPr>
            <a:r>
              <a:t>Own FFT agrees with MATLAB fft to about 10⁻¹⁴.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3483864"/>
            <a:ext cx="2743200" cy="1005840"/>
          </a:xfrm>
          <a:prstGeom prst="rect">
            <a:avLst/>
          </a:prstGeom>
          <a:solidFill>
            <a:srgbClr val="F8F9FB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44184" y="3557016"/>
            <a:ext cx="24871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63F5C"/>
                </a:solidFill>
              </a:defRPr>
            </a:pPr>
            <a:r>
              <a:t>Complexity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4" y="3922776"/>
            <a:ext cx="2468880" cy="52120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300">
                <a:solidFill>
                  <a:srgbClr val="37414B"/>
                </a:solidFill>
              </a:defRPr>
            </a:pPr>
            <a:r>
              <a:t>FFT’s lower growth in operations is consistent with the increasing measured speedup.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resolution and convolution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Mini Project  |  Comparative DSP Benchmark: DFT, FFT, FIR and IIR</a:t>
            </a:r>
            <a:endParaRPr lang="en-US" sz="900" dirty="0"/>
          </a:p>
        </p:txBody>
      </p:sp>
      <p:pic>
        <p:nvPicPr>
          <p:cNvPr id="5" name="Picture 4" descr="resolution_si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05840"/>
            <a:ext cx="4160520" cy="2423160"/>
          </a:xfrm>
          <a:prstGeom prst="rect">
            <a:avLst/>
          </a:prstGeom>
        </p:spPr>
      </p:pic>
      <p:pic>
        <p:nvPicPr>
          <p:cNvPr id="6" name="Picture 5" descr="conv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005840"/>
            <a:ext cx="4160520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566160"/>
            <a:ext cx="3886200" cy="1024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Resolution: Δf = fs/N. At N=128, the 5 Hz-separated tones merge; zero-padding smooths the spectrum but does not add information. N=1024 real samples resolve the two tones.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3566160"/>
            <a:ext cx="3886200" cy="1024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Convolution (255-tap filter): at L=32768, FFT-based convolution takes 1.58 ms vs 10.57 ms for the direct loop (6.7× faster). MATLAB conv is fastest in this benchmark.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vs IIR (synthetic signal, low-pass at 120 Hz)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Mini Project  |  Comparative DSP Benchmark: DFT, FFT, FIR and IIR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123444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463040"/>
                <a:gridCol w="1554480"/>
                <a:gridCol w="1371600"/>
              </a:tblGrid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/ sample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Stopband (dB)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FIR, order 50, Hamming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IIR Butterworth 4, causal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IIR Butterworth 4, filtfilt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(offline)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3716" marB="1371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069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050">
                <a:solidFill>
                  <a:srgbClr val="2D3741"/>
                </a:solidFill>
              </a:defRPr>
            </a:pPr>
            <a:r>
              <a:rPr sz="1000"/>
              <a:t>FIR: stronger stopband attenuation (−60.7 dB) and linear phase, at 101 operations/sample.</a:t>
            </a:r>
          </a:p>
          <a:p>
            <a:pPr>
              <a:defRPr sz="1050">
                <a:solidFill>
                  <a:srgbClr val="2D3741"/>
                </a:solidFill>
              </a:defRPr>
            </a:pPr>
            <a:r>
              <a:rPr sz="1000"/>
              <a:t>Causal IIR: lower cost (17 operations/sample), but RMSE rises to 0.917 in this waveform comparison.</a:t>
            </a:r>
          </a:p>
          <a:p>
            <a:pPr>
              <a:defRPr sz="1050">
                <a:solidFill>
                  <a:srgbClr val="2D3741"/>
                </a:solidFill>
              </a:defRPr>
            </a:pPr>
            <a:r>
              <a:rPr sz="1000"/>
              <a:t>Zero-phase IIR (offline filtfilt): RMSE ≈ 0.094, close to FIR’s 0.096, with 34 operations/sample.</a:t>
            </a:r>
          </a:p>
        </p:txBody>
      </p:sp>
      <p:pic>
        <p:nvPicPr>
          <p:cNvPr id="8" name="Picture 7" descr="filter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95728"/>
            <a:ext cx="3794760" cy="1600200"/>
          </a:xfrm>
          <a:prstGeom prst="rect">
            <a:avLst/>
          </a:prstGeom>
        </p:spPr>
      </p:pic>
      <p:pic>
        <p:nvPicPr>
          <p:cNvPr id="9" name="Picture 8" descr="filter_wave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395728"/>
            <a:ext cx="347472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computation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Mini Project  |  Comparative DSP Benchmark: DFT, FFT, FIR and IIR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5120640" y="1097280"/>
            <a:ext cx="3566160" cy="15544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5120640" y="1097280"/>
            <a:ext cx="64008" cy="1554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30352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sweep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303520" y="16002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300"/>
              <a:t>RMSE falls from 0.134 at order 10 to about 0.094 at order 30 (61 operations/sample). Higher orders add cost without improving this test.</a:t>
            </a:r>
          </a:p>
        </p:txBody>
      </p:sp>
      <p:sp>
        <p:nvSpPr>
          <p:cNvPr id="11" name="Shape 7"/>
          <p:cNvSpPr/>
          <p:nvPr/>
        </p:nvSpPr>
        <p:spPr>
          <a:xfrm>
            <a:off x="5120640" y="2834640"/>
            <a:ext cx="3566160" cy="15544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120640" y="2834640"/>
            <a:ext cx="64008" cy="1554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530352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IIR sweep (zero-phase)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303520" y="33375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300"/>
              <a:t>Zero-phase IIR reaches RMSE ≈ 0.094 at order 4 with 34 operations/sample, lower than FIR order 30 for similar error.</a:t>
            </a:r>
          </a:p>
        </p:txBody>
      </p:sp>
      <p:pic>
        <p:nvPicPr>
          <p:cNvPr id="15" name="Picture 14" descr="accuracy_trade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005840"/>
            <a:ext cx="448056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the existing method (MATLAB built-ins)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Mini Project  |  Comparative DSP Benchmark: DFT, FFT, FIR and IIR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7373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implementation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 built-in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FFT, N = 4096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myfft: 7.99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fft: 0.0077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about 1e-14; built-in about 1000x faster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Convolution, L = 32768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conv_fft: 1.58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conv: 0.136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about 1e-16; built-in faster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fir1 and butter designs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filter, filtfilt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Built-ins used for design and filtering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337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00"/>
              <a:t>Contribution: a unified, reproducible framework for testing the algorithms on the same signals. The naive DFT, own FFT and convolution routines are compared with MATLAB references; FIR/IIR design and filtering also use MATLAB built-ins.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Mini Project  |  Comparative DSP Benchmark: DFT, FFT, FIR and IIR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600200"/>
            <a:ext cx="3703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FFT: up to 19.2x faster than DFT, negligible numerical error</a:t>
            </a:r>
          </a:p>
          <a:p>
            <a:r>
              <a:t>FFT convolution: 6.7x faster for long signals</a:t>
            </a:r>
          </a:p>
          <a:p>
            <a:r>
              <a:t>FIR: better stopband, linear phase, higher cost</a:t>
            </a:r>
          </a:p>
          <a:p>
            <a:r>
              <a:t>IIR: same RMSE at lower cost once phase is compensated</a:t>
            </a:r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63440" y="1097280"/>
            <a:ext cx="64008" cy="338328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600200"/>
            <a:ext cx="3703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Two-channel QMF filter bank (Agrawal and Sahu, 2013)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filter designs and FFT variants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Python / SciPy and ECG or speech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and fixed-point implementation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Mini Project  |  Comparative DSP Benchmark: DFT, FFT, FIR and IIR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82296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sz="1100"/>
              <a:t>1. S. Agrawal and R. Sahu, “Two-Channel Quadrature Mirror Filter Bank: An Overview,” ISRN Signal Processing, 2013. https://doi.org/10.1155/2013/815619</a:t>
            </a:r>
          </a:p>
          <a:p>
            <a:pPr>
              <a:spcAft>
                <a:spcPts val="700"/>
              </a:spcAft>
            </a:pPr>
            <a:r>
              <a:rPr sz="1100"/>
              <a:t>2. SciPy open-source signal-processing library, arXiv:2502.14224. https://arxiv.org/abs/2502.14224</a:t>
            </a:r>
          </a:p>
          <a:p>
            <a:pPr>
              <a:spcAft>
                <a:spcPts val="700"/>
              </a:spcAft>
            </a:pPr>
            <a:r>
              <a:rPr sz="1100"/>
              <a:t>3. J. W. Cooley and J. W. Tukey, “An algorithm for the machine calculation of complex Fourier series,” Mathematics of Computation, vol. 19, pp. 297–301, 1965.</a:t>
            </a:r>
          </a:p>
          <a:p>
            <a:pPr>
              <a:spcAft>
                <a:spcPts val="700"/>
              </a:spcAft>
            </a:pPr>
            <a:r>
              <a:rPr sz="1100"/>
              <a:t>4. A. V. Oppenheim and R. W. Schafer, Discrete-Time Signal Processing, 3rd ed., Pearson, 2010.</a:t>
            </a:r>
          </a:p>
          <a:p>
            <a:pPr>
              <a:spcAft>
                <a:spcPts val="700"/>
              </a:spcAft>
            </a:pPr>
            <a:r>
              <a:rPr sz="1100"/>
              <a:t>5. J. G. Proakis and D. G. Manolakis, Digital Signal Processing: Principles, Algorithms and Applications, 4th ed., Pearson, 2007.</a:t>
            </a:r>
          </a:p>
          <a:p>
            <a:pPr>
              <a:spcAft>
                <a:spcPts val="700"/>
              </a:spcAft>
            </a:pPr>
            <a:r>
              <a:rPr sz="1100"/>
              <a:t>6. MathWorks, Signal Processing Toolbox documentation. https://www.mathworks.com/help/signal/</a:t>
            </a:r>
          </a:p>
          <a:p>
            <a:pPr>
              <a:spcAft>
                <a:spcPts val="700"/>
              </a:spcAft>
            </a:pPr>
            <a:r>
              <a:rPr sz="1100"/>
              <a:t>7. GitHub repository: https://github.com/raghavpalange2/dsp-benchmark-dft-fft-fir-iir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DSP Benchmark: DFT, FFT, FIR and IIR</dc:title>
  <dc:subject>PptxGenJS Presentation</dc:subject>
  <dc:creator>DSP Mini Project</dc:creator>
  <cp:lastModifiedBy>DSP Mini Project</cp:lastModifiedBy>
  <cp:revision>1</cp:revision>
  <dcterms:created xsi:type="dcterms:W3CDTF">2026-10-15T09:08:50Z</dcterms:created>
  <dcterms:modified xsi:type="dcterms:W3CDTF">2026-10-15T09:08:50Z</dcterms:modified>
</cp:coreProperties>
</file>